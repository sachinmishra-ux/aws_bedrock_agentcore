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Today we are discussing generative AI architectures on AWS. Specifically, we will start with AWS Bedrock (the models and foundation level) and then explore Bedrock AgentCore—the new managed framework for orchestrating, running, and scaling secure AI agents.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Bedrock is the foundation layer. Key point: it is serverless. Explain to students that instead of configuring EC2 instances with GPUs to run Llama or Claude, they get an AWS SDK client that invokes them with simple API keys. Data security is a key selling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sure to explain the difference between a raw model and these services. Knowledge Bases automates the RAG pipeline. Guardrails is the firewall. Model Customization allows tweaking models for specific domains (like medical or legal terms). Model Evaluation helps with the business decision of choosing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the problem statement. Why do we need AgentCore? Explain that while students can write an agent loop locally in 10 lines of Python, running that loop for 10,000 parallel enterprise users requires a managed cloud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architecture slide to walk through the developer flow. A developer builds using Harness/CLI/SDK (second layer). The agent execution is powered by 10 modules (middle left) and deploys to Runtime (middle right). Finally, engineers assess and monitor using Observability &amp; Evaluations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is the core logic manager. Explain that it does the heavy lifting of the 'agent loop'. Explain built-in tools: a Code Interpreter allows agents to execute arbitrary Python in a sandbox, and the Browser lets them fetch live content. These are essential for robust agent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Gateways use the Model Context Protocol (MCP). Emphasize that MCP is the new open standard supported by Anthropic, AWS, and others. Inbound/Outbound identity is critical for corporate compliance. Ask: 'How does an agent write an email on behalf of a user? Outbound Identity delegation.'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gives agents continuity. Policy engines like Cedar give them safety. Ask students: 'If the LLM has a prompt saying do not display account balance to non-US users, can it be jailbroken?' Yes. 'But if Cedar policy explicitly forbids it, can it be jailbroken?' No. Cedar policy checks are deterministic, checked by AWS before invoking the 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is like an 'npm registry' or 'docker hub' for agents and tools in a large company. Runtime is the actual compute engine, similar to AWS Lambda, but customized specifically to handle stateful agent loops, longer processing windows, and multimodal data payloads.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Payments is a unique capability: agents having wallets to make microtransactions. Observability/Evaluations is about maintaining quality control. Traces show *why* an agent made a decision, and Evaluations test prompt updates against safety benchmarks.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sure the comparison is clear. Bedrock Agents (Classic) is a specific low-code builder that uses Bedrock models and Lambdas. Bedrock AgentCore is the newer, broader enterprise platform that allows you to take *any* custom agent code (written in LangGraph or python) and run/scale it with enterprise memory, identity, policy, and payments.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final slide to wrap up the lecture and transition to the lab work. Reiterate that probabilistic AI needs deterministic cloud compliance parameters (Cedar, Outbound Identity) to run securely in enterprise systems. Prepare students for the hand-on workshop using AgentCore CLI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914400" y="1828800"/>
            <a:ext cx="10362895" cy="3200400"/>
          </a:xfrm>
          <a:prstGeom prst="rect">
            <a:avLst/>
          </a:prstGeom>
          <a:noFill/>
        </p:spPr>
        <p:txBody>
          <a:bodyPr wrap="square">
            <a:spAutoFit/>
          </a:bodyPr>
          <a:lstStyle/>
          <a:p>
            <a:pPr algn="ctr">
              <a:defRPr sz="3600" b="1">
                <a:solidFill>
                  <a:srgbClr val="F8FAFC"/>
                </a:solidFill>
                <a:latin typeface="Arial"/>
              </a:defRPr>
            </a:pPr>
            <a:r>
              <a:t>AWS BEDROCK &amp;</a:t>
            </a:r>
          </a:p>
          <a:p>
            <a:pPr algn="ctr">
              <a:spcBef>
                <a:spcPts val="1000"/>
              </a:spcBef>
              <a:defRPr sz="4400" b="1">
                <a:solidFill>
                  <a:srgbClr val="8A2BE2"/>
                </a:solidFill>
                <a:latin typeface="Arial"/>
              </a:defRPr>
            </a:pPr>
            <a:r>
              <a:t>AMAZON BEDROCK AGENTCORE</a:t>
            </a:r>
          </a:p>
          <a:p>
            <a:pPr algn="ctr">
              <a:spcBef>
                <a:spcPts val="3000"/>
              </a:spcBef>
              <a:defRPr sz="1800">
                <a:solidFill>
                  <a:srgbClr val="94A3B8"/>
                </a:solidFill>
                <a:latin typeface="Arial"/>
              </a:defRPr>
            </a:pPr>
            <a:r>
              <a:t>A comprehensive educator guide to building, deploying, and scaling secure enterprise-grade AI agents.</a:t>
            </a:r>
          </a:p>
          <a:p>
            <a:pPr algn="ctr">
              <a:spcBef>
                <a:spcPts val="5000"/>
              </a:spcBef>
              <a:defRPr sz="1100" b="1">
                <a:solidFill>
                  <a:srgbClr val="00F2FE"/>
                </a:solidFill>
                <a:latin typeface="Arial"/>
              </a:defRPr>
            </a:pPr>
            <a:r>
              <a:t>SCHOOL OF CLOUD AI ARCHITECTURES  •  LECTURE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AWS BEDROCK OVERVIEW</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Demystifying AWS Bedrock</a:t>
            </a:r>
          </a:p>
        </p:txBody>
      </p:sp>
      <p:sp>
        <p:nvSpPr>
          <p:cNvPr id="4" name="TextBox 3"/>
          <p:cNvSpPr txBox="1"/>
          <p:nvPr/>
        </p:nvSpPr>
        <p:spPr>
          <a:xfrm>
            <a:off x="685800" y="1645920"/>
            <a:ext cx="5029200" cy="4114800"/>
          </a:xfrm>
          <a:prstGeom prst="rect">
            <a:avLst/>
          </a:prstGeom>
          <a:noFill/>
        </p:spPr>
        <p:txBody>
          <a:bodyPr wrap="square">
            <a:spAutoFit/>
          </a:bodyPr>
          <a:lstStyle/>
          <a:p>
            <a:pPr>
              <a:spcAft>
                <a:spcPts val="2000"/>
              </a:spcAft>
              <a:defRPr sz="1800">
                <a:solidFill>
                  <a:srgbClr val="F8FAFC"/>
                </a:solidFill>
                <a:latin typeface="Arial"/>
              </a:defRPr>
            </a:pPr>
            <a:r>
              <a:t>Amazon Bedrock is a fully managed, serverless AWS service that provides developer access to high-performing foundation models (FMs) via a single, unified API.</a:t>
            </a:r>
          </a:p>
          <a:p>
            <a:pPr>
              <a:spcAft>
                <a:spcPts val="600"/>
              </a:spcAft>
              <a:defRPr sz="1400" b="1">
                <a:solidFill>
                  <a:srgbClr val="00F2FE"/>
                </a:solidFill>
                <a:latin typeface="Arial"/>
              </a:defRPr>
            </a:pPr>
            <a:r>
              <a:t>Core Value Proposition:</a:t>
            </a:r>
          </a:p>
          <a:p>
            <a:pPr>
              <a:defRPr sz="1400">
                <a:solidFill>
                  <a:srgbClr val="94A3B8"/>
                </a:solidFill>
                <a:latin typeface="Arial"/>
              </a:defRPr>
            </a:pPr>
            <a:r>
              <a:t>Bedrock abstracts away the complexities of hosting and running massive machine learning models, allowing developers to focus on application logic, prompting strategies, and enterprise security configurations.</a:t>
            </a:r>
          </a:p>
        </p:txBody>
      </p:sp>
      <p:sp>
        <p:nvSpPr>
          <p:cNvPr id="5" name="Rounded Rectangle 4"/>
          <p:cNvSpPr/>
          <p:nvPr/>
        </p:nvSpPr>
        <p:spPr>
          <a:xfrm>
            <a:off x="6172200" y="1645920"/>
            <a:ext cx="5333695" cy="109728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00F2FE"/>
                </a:solidFill>
                <a:latin typeface="Arial"/>
              </a:defRPr>
            </a:pPr>
            <a:r>
              <a:t>Unified API Access</a:t>
            </a:r>
          </a:p>
          <a:p>
            <a:pPr>
              <a:defRPr sz="1100">
                <a:solidFill>
                  <a:srgbClr val="94A3B8"/>
                </a:solidFill>
                <a:latin typeface="Arial"/>
              </a:defRPr>
            </a:pPr>
            <a:r>
              <a:t>One unified client API connects you to multiple leading model providers: Anthropic (Claude), Meta (Llama), Mistral AI, Cohere, and Amazon Titan.</a:t>
            </a:r>
          </a:p>
        </p:txBody>
      </p:sp>
      <p:sp>
        <p:nvSpPr>
          <p:cNvPr id="6" name="Rounded Rectangle 5"/>
          <p:cNvSpPr/>
          <p:nvPr/>
        </p:nvSpPr>
        <p:spPr>
          <a:xfrm>
            <a:off x="6172200" y="3017520"/>
            <a:ext cx="5333695" cy="109728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8A2BE2"/>
                </a:solidFill>
                <a:latin typeface="Arial"/>
              </a:defRPr>
            </a:pPr>
            <a:r>
              <a:t>Enterprise Security</a:t>
            </a:r>
          </a:p>
          <a:p>
            <a:pPr>
              <a:defRPr sz="1100">
                <a:solidFill>
                  <a:srgbClr val="94A3B8"/>
                </a:solidFill>
                <a:latin typeface="Arial"/>
              </a:defRPr>
            </a:pPr>
            <a:r>
              <a:t>Your data is encrypted, stays within your VPC, and is never shared with third-party model providers or used to train their base weights.</a:t>
            </a:r>
          </a:p>
        </p:txBody>
      </p:sp>
      <p:sp>
        <p:nvSpPr>
          <p:cNvPr id="7" name="Rounded Rectangle 6"/>
          <p:cNvSpPr/>
          <p:nvPr/>
        </p:nvSpPr>
        <p:spPr>
          <a:xfrm>
            <a:off x="6172200" y="4389120"/>
            <a:ext cx="5333695" cy="109728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F1C40F"/>
                </a:solidFill>
                <a:latin typeface="Arial"/>
              </a:defRPr>
            </a:pPr>
            <a:r>
              <a:t>Serverless Scale</a:t>
            </a:r>
          </a:p>
          <a:p>
            <a:pPr>
              <a:defRPr sz="1100">
                <a:solidFill>
                  <a:srgbClr val="94A3B8"/>
                </a:solidFill>
                <a:latin typeface="Arial"/>
              </a:defRPr>
            </a:pPr>
            <a:r>
              <a:t>Zero servers to provision. Pays only for consumed tokens (input/output) or provisioned throughput for predictable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AWS BEDROCK CAPABILITIES</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Key Services Under Bedrock</a:t>
            </a:r>
          </a:p>
        </p:txBody>
      </p:sp>
      <p:sp>
        <p:nvSpPr>
          <p:cNvPr id="4" name="Rounded Rectangle 3"/>
          <p:cNvSpPr/>
          <p:nvPr/>
        </p:nvSpPr>
        <p:spPr>
          <a:xfrm>
            <a:off x="685800" y="1645920"/>
            <a:ext cx="2468880" cy="40233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800"/>
              </a:spcAft>
              <a:defRPr sz="2000" b="1">
                <a:solidFill>
                  <a:srgbClr val="00F2FE"/>
                </a:solidFill>
                <a:latin typeface="Arial"/>
              </a:defRPr>
            </a:pPr>
            <a:r>
              <a:t>01</a:t>
            </a:r>
          </a:p>
          <a:p>
            <a:pPr>
              <a:spcAft>
                <a:spcPts val="1200"/>
              </a:spcAft>
              <a:defRPr sz="1600" b="1">
                <a:solidFill>
                  <a:srgbClr val="F8FAFC"/>
                </a:solidFill>
                <a:latin typeface="Arial"/>
              </a:defRPr>
            </a:pPr>
            <a:r>
              <a:t>Knowledge Bases</a:t>
            </a:r>
          </a:p>
          <a:p>
            <a:pPr>
              <a:defRPr sz="1100">
                <a:solidFill>
                  <a:srgbClr val="94A3B8"/>
                </a:solidFill>
                <a:latin typeface="Arial"/>
              </a:defRPr>
            </a:pPr>
            <a:r>
              <a:t>Out-of-the-box Retrieval-Augmented Generation (RAG). Automatically syncs documents in S3, handles chunking and embedding, and loads them into vector databases (OpenSearch, Pinecone) for context-aware querying.</a:t>
            </a:r>
          </a:p>
        </p:txBody>
      </p:sp>
      <p:sp>
        <p:nvSpPr>
          <p:cNvPr id="5" name="Rounded Rectangle 4"/>
          <p:cNvSpPr/>
          <p:nvPr/>
        </p:nvSpPr>
        <p:spPr>
          <a:xfrm>
            <a:off x="3429000" y="1645920"/>
            <a:ext cx="2468880" cy="40233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800"/>
              </a:spcAft>
              <a:defRPr sz="2000" b="1">
                <a:solidFill>
                  <a:srgbClr val="00F2FE"/>
                </a:solidFill>
                <a:latin typeface="Arial"/>
              </a:defRPr>
            </a:pPr>
            <a:r>
              <a:t>02</a:t>
            </a:r>
          </a:p>
          <a:p>
            <a:pPr>
              <a:spcAft>
                <a:spcPts val="1200"/>
              </a:spcAft>
              <a:defRPr sz="1600" b="1">
                <a:solidFill>
                  <a:srgbClr val="F8FAFC"/>
                </a:solidFill>
                <a:latin typeface="Arial"/>
              </a:defRPr>
            </a:pPr>
            <a:r>
              <a:t>Guardrails</a:t>
            </a:r>
          </a:p>
          <a:p>
            <a:pPr>
              <a:defRPr sz="1100">
                <a:solidFill>
                  <a:srgbClr val="94A3B8"/>
                </a:solidFill>
                <a:latin typeface="Arial"/>
              </a:defRPr>
            </a:pPr>
            <a:r>
              <a:t>Apply custom safety filters. Blocks prohibited topics using simple keyword or natural language rules, filters toxic content, and masks PII (Personally Identifiable Information) before model input or after output.</a:t>
            </a:r>
          </a:p>
        </p:txBody>
      </p:sp>
      <p:sp>
        <p:nvSpPr>
          <p:cNvPr id="6" name="Rounded Rectangle 5"/>
          <p:cNvSpPr/>
          <p:nvPr/>
        </p:nvSpPr>
        <p:spPr>
          <a:xfrm>
            <a:off x="6172200" y="1645920"/>
            <a:ext cx="2468880" cy="40233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800"/>
              </a:spcAft>
              <a:defRPr sz="2000" b="1">
                <a:solidFill>
                  <a:srgbClr val="00F2FE"/>
                </a:solidFill>
                <a:latin typeface="Arial"/>
              </a:defRPr>
            </a:pPr>
            <a:r>
              <a:t>03</a:t>
            </a:r>
          </a:p>
          <a:p>
            <a:pPr>
              <a:spcAft>
                <a:spcPts val="1200"/>
              </a:spcAft>
              <a:defRPr sz="1600" b="1">
                <a:solidFill>
                  <a:srgbClr val="F8FAFC"/>
                </a:solidFill>
                <a:latin typeface="Arial"/>
              </a:defRPr>
            </a:pPr>
            <a:r>
              <a:t>Model Customization</a:t>
            </a:r>
          </a:p>
          <a:p>
            <a:pPr>
              <a:defRPr sz="1100">
                <a:solidFill>
                  <a:srgbClr val="94A3B8"/>
                </a:solidFill>
                <a:latin typeface="Arial"/>
              </a:defRPr>
            </a:pPr>
            <a:r>
              <a:t>Fine-tune model weights or run continued pre-training on proprietary datasets securely. You can also import custom weights directly via Custom Model Import and host them inside Bedrock.</a:t>
            </a:r>
          </a:p>
        </p:txBody>
      </p:sp>
      <p:sp>
        <p:nvSpPr>
          <p:cNvPr id="7" name="Rounded Rectangle 6"/>
          <p:cNvSpPr/>
          <p:nvPr/>
        </p:nvSpPr>
        <p:spPr>
          <a:xfrm>
            <a:off x="8915400" y="1645920"/>
            <a:ext cx="2468880" cy="40233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800"/>
              </a:spcAft>
              <a:defRPr sz="2000" b="1">
                <a:solidFill>
                  <a:srgbClr val="00F2FE"/>
                </a:solidFill>
                <a:latin typeface="Arial"/>
              </a:defRPr>
            </a:pPr>
            <a:r>
              <a:t>04</a:t>
            </a:r>
          </a:p>
          <a:p>
            <a:pPr>
              <a:spcAft>
                <a:spcPts val="1200"/>
              </a:spcAft>
              <a:defRPr sz="1600" b="1">
                <a:solidFill>
                  <a:srgbClr val="F8FAFC"/>
                </a:solidFill>
                <a:latin typeface="Arial"/>
              </a:defRPr>
            </a:pPr>
            <a:r>
              <a:t>Model Evaluation</a:t>
            </a:r>
          </a:p>
          <a:p>
            <a:pPr>
              <a:defRPr sz="1100">
                <a:solidFill>
                  <a:srgbClr val="94A3B8"/>
                </a:solidFill>
                <a:latin typeface="Arial"/>
              </a:defRPr>
            </a:pPr>
            <a:r>
              <a:t>Compare foundation models side-by-side using automatic criteria (accuracy, toxicity) or human evaluation tasks to select the most cost-effective and capable foundation model for your workload.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THE SHIFT TO AGENTS</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From Simple Prompts to Autonomous Agents</a:t>
            </a:r>
          </a:p>
        </p:txBody>
      </p:sp>
      <p:sp>
        <p:nvSpPr>
          <p:cNvPr id="4" name="TextBox 3"/>
          <p:cNvSpPr txBox="1"/>
          <p:nvPr/>
        </p:nvSpPr>
        <p:spPr>
          <a:xfrm>
            <a:off x="685800" y="1645920"/>
            <a:ext cx="5029200" cy="4114800"/>
          </a:xfrm>
          <a:prstGeom prst="rect">
            <a:avLst/>
          </a:prstGeom>
          <a:noFill/>
        </p:spPr>
        <p:txBody>
          <a:bodyPr wrap="square">
            <a:spAutoFit/>
          </a:bodyPr>
          <a:lstStyle/>
          <a:p>
            <a:pPr>
              <a:spcAft>
                <a:spcPts val="3000"/>
              </a:spcAft>
              <a:defRPr sz="1600">
                <a:solidFill>
                  <a:srgbClr val="F8FAFC"/>
                </a:solidFill>
                <a:latin typeface="Arial"/>
              </a:defRPr>
            </a:pPr>
            <a:r>
              <a:t>Standard LLMs are passive: they wait for a prompt, process it, and output text. In contrast, AI Agents are active loops that can plan, reason, invoke external tools, and remember context across sessions.</a:t>
            </a:r>
          </a:p>
          <a:p>
            <a:pPr>
              <a:defRPr sz="1400" i="1">
                <a:solidFill>
                  <a:srgbClr val="8A2BE2"/>
                </a:solidFill>
                <a:latin typeface="Arial"/>
              </a:defRPr>
            </a:pPr>
            <a:r>
              <a:t>"The hardest part of building AI agents isn't writing the first prototype loop; it's secure deployment, scaling session memory, managing identity permissions, and evaluating behavior in production."</a:t>
            </a:r>
          </a:p>
        </p:txBody>
      </p:sp>
      <p:sp>
        <p:nvSpPr>
          <p:cNvPr id="5" name="Rounded Rectangle 4"/>
          <p:cNvSpPr/>
          <p:nvPr/>
        </p:nvSpPr>
        <p:spPr>
          <a:xfrm>
            <a:off x="6172200" y="1645920"/>
            <a:ext cx="5333695" cy="12801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00F2FE"/>
                </a:solidFill>
                <a:latin typeface="Arial"/>
              </a:defRPr>
            </a:pPr>
            <a:r>
              <a:t>[1]  Local Framework Limitations</a:t>
            </a:r>
          </a:p>
          <a:p>
            <a:pPr>
              <a:defRPr sz="1100">
                <a:solidFill>
                  <a:srgbClr val="94A3B8"/>
                </a:solidFill>
                <a:latin typeface="Arial"/>
              </a:defRPr>
            </a:pPr>
            <a:r>
              <a:t>LangGraph, CrewAI, and AutoGen are excellent for prototyping, but lack native cloud scaling, secure sandbox execution, and centralized policy control out-of-the-box.</a:t>
            </a:r>
          </a:p>
        </p:txBody>
      </p:sp>
      <p:sp>
        <p:nvSpPr>
          <p:cNvPr id="6" name="Rounded Rectangle 5"/>
          <p:cNvSpPr/>
          <p:nvPr/>
        </p:nvSpPr>
        <p:spPr>
          <a:xfrm>
            <a:off x="6172200" y="3108960"/>
            <a:ext cx="5333695" cy="128016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00F2FE"/>
                </a:solidFill>
                <a:latin typeface="Arial"/>
              </a:defRPr>
            </a:pPr>
            <a:r>
              <a:t>[2]  Enterprise Requirements</a:t>
            </a:r>
          </a:p>
          <a:p>
            <a:pPr>
              <a:defRPr sz="1100">
                <a:solidFill>
                  <a:srgbClr val="94A3B8"/>
                </a:solidFill>
                <a:latin typeface="Arial"/>
              </a:defRPr>
            </a:pPr>
            <a:r>
              <a:t>Organizations require secure session isolation, user authentication, auditing (observability), and strict authorization over what databases and tools an agent can call.</a:t>
            </a:r>
          </a:p>
        </p:txBody>
      </p:sp>
      <p:sp>
        <p:nvSpPr>
          <p:cNvPr id="7" name="Rounded Rectangle 6"/>
          <p:cNvSpPr/>
          <p:nvPr/>
        </p:nvSpPr>
        <p:spPr>
          <a:xfrm>
            <a:off x="6172200" y="4572000"/>
            <a:ext cx="5333695" cy="1280160"/>
          </a:xfrm>
          <a:prstGeom prst="roundRect">
            <a:avLst/>
          </a:prstGeom>
          <a:solidFill>
            <a:srgbClr val="0F172A"/>
          </a:solidFill>
          <a:ln w="190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400"/>
              </a:spcAft>
              <a:defRPr sz="1400" b="1">
                <a:solidFill>
                  <a:srgbClr val="8A2BE2"/>
                </a:solidFill>
                <a:latin typeface="Arial"/>
              </a:defRPr>
            </a:pPr>
            <a:r>
              <a:t>[★]  The Solution: AgentCore</a:t>
            </a:r>
          </a:p>
          <a:p>
            <a:pPr>
              <a:defRPr sz="1100">
                <a:solidFill>
                  <a:srgbClr val="94A3B8"/>
                </a:solidFill>
                <a:latin typeface="Arial"/>
              </a:defRPr>
            </a:pPr>
            <a:r>
              <a:t>A fully managed, framework-agnostic platform specifically built to deploy and scale production agents with enterprise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ARCHITECTURAL DIAGRAM</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Amazon Bedrock AgentCore Architecture</a:t>
            </a:r>
          </a:p>
        </p:txBody>
      </p:sp>
      <p:pic>
        <p:nvPicPr>
          <p:cNvPr id="4" name="Picture 3" descr="agentcore_architecture.png"/>
          <p:cNvPicPr>
            <a:picLocks noChangeAspect="1"/>
          </p:cNvPicPr>
          <p:nvPr/>
        </p:nvPicPr>
        <p:blipFill>
          <a:blip r:embed="rId2"/>
          <a:stretch>
            <a:fillRect/>
          </a:stretch>
        </p:blipFill>
        <p:spPr>
          <a:xfrm>
            <a:off x="685800" y="1645920"/>
            <a:ext cx="10820095" cy="34747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AGENTCORE MODULES • BUILD &amp; TOOLS</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Harness &amp; Built-In Tools</a:t>
            </a:r>
          </a:p>
        </p:txBody>
      </p:sp>
      <p:sp>
        <p:nvSpPr>
          <p:cNvPr id="4" name="TextBox 3"/>
          <p:cNvSpPr txBox="1"/>
          <p:nvPr/>
        </p:nvSpPr>
        <p:spPr>
          <a:xfrm>
            <a:off x="685800" y="1645920"/>
            <a:ext cx="5029200" cy="4114800"/>
          </a:xfrm>
          <a:prstGeom prst="rect">
            <a:avLst/>
          </a:prstGeom>
          <a:noFill/>
        </p:spPr>
        <p:txBody>
          <a:bodyPr wrap="square">
            <a:spAutoFit/>
          </a:bodyPr>
          <a:lstStyle/>
          <a:p>
            <a:pPr>
              <a:spcAft>
                <a:spcPts val="600"/>
              </a:spcAft>
              <a:defRPr sz="1600" b="1">
                <a:solidFill>
                  <a:srgbClr val="00F2FE"/>
                </a:solidFill>
                <a:latin typeface="Arial"/>
              </a:defRPr>
            </a:pPr>
            <a:r>
              <a:t>🛠️ Harness</a:t>
            </a:r>
          </a:p>
          <a:p>
            <a:pPr>
              <a:spcAft>
                <a:spcPts val="2000"/>
              </a:spcAft>
              <a:defRPr sz="1200">
                <a:solidFill>
                  <a:srgbClr val="94A3B8"/>
                </a:solidFill>
                <a:latin typeface="Arial"/>
              </a:defRPr>
            </a:pPr>
            <a:r>
              <a:t>Harness offers a fully managed agent loop execution environment. It automatically orchestrates execution blocks, handling prompt-response cycles, routing tools, and managing state.</a:t>
            </a:r>
            <a:br/>
            <a:r>
              <a:t>• Gives each session an isolated container workspace with a filesystem.</a:t>
            </a:r>
            <a:br/>
            <a:r>
              <a:t>• Simply define model, system prompt, and tools list to activate.</a:t>
            </a:r>
          </a:p>
          <a:p>
            <a:pPr>
              <a:spcAft>
                <a:spcPts val="600"/>
              </a:spcAft>
              <a:defRPr sz="1600" b="1">
                <a:solidFill>
                  <a:srgbClr val="00F2FE"/>
                </a:solidFill>
                <a:latin typeface="Arial"/>
              </a:defRPr>
            </a:pPr>
            <a:r>
              <a:t>📦 Built-in Tools</a:t>
            </a:r>
          </a:p>
          <a:p>
            <a:pPr>
              <a:defRPr sz="1200">
                <a:solidFill>
                  <a:srgbClr val="94A3B8"/>
                </a:solidFill>
                <a:latin typeface="Arial"/>
              </a:defRPr>
            </a:pPr>
            <a:r>
              <a:t>Provides secure integration of Amazon's managed tools directly into the agent context.</a:t>
            </a:r>
            <a:br/>
            <a:r>
              <a:t>• Secure Browser: Allows agents to safely search, click links, and browse pages.</a:t>
            </a:r>
            <a:br/>
            <a:r>
              <a:t>• Code Interpreter: Runs a secure, sandboxed Python runtime to calculate formulas, parse data files, and compile charts.</a:t>
            </a:r>
          </a:p>
        </p:txBody>
      </p:sp>
      <p:sp>
        <p:nvSpPr>
          <p:cNvPr id="5" name="Rounded Rectangle 4"/>
          <p:cNvSpPr/>
          <p:nvPr/>
        </p:nvSpPr>
        <p:spPr>
          <a:xfrm>
            <a:off x="6172200" y="1645920"/>
            <a:ext cx="5333695" cy="4114800"/>
          </a:xfrm>
          <a:prstGeom prst="roundRect">
            <a:avLst/>
          </a:prstGeom>
          <a:solidFill>
            <a:srgbClr val="0F172A"/>
          </a:solidFill>
          <a:ln w="19050">
            <a:solidFill>
              <a:srgbClr val="1F2D4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200"/>
              </a:spcAft>
              <a:defRPr sz="1400" b="1">
                <a:solidFill>
                  <a:srgbClr val="8A2BE2"/>
                </a:solidFill>
                <a:latin typeface="Arial"/>
              </a:defRPr>
            </a:pPr>
            <a:r>
              <a:t>AgentCore CLI command workflow:</a:t>
            </a:r>
          </a:p>
          <a:p>
            <a:pPr>
              <a:spcBef>
                <a:spcPts val="800"/>
              </a:spcBef>
              <a:defRPr sz="1100">
                <a:solidFill>
                  <a:srgbClr val="F8FAFC"/>
                </a:solidFill>
                <a:latin typeface="Courier New"/>
              </a:defRPr>
            </a:pPr>
            <a:r>
              <a:t>$ npm install -g @aws/agentcore</a:t>
            </a:r>
            <a:br/>
            <a:r>
              <a:t>✓ Installed AgentCore CLI v1.2.0</a:t>
            </a:r>
            <a:br/>
            <a:br/>
            <a:r>
              <a:t>$ agentcore init my-agent</a:t>
            </a:r>
            <a:br/>
            <a:r>
              <a:t>Initializing new agent skeleton...</a:t>
            </a:r>
            <a:br/>
            <a:r>
              <a:t>  - agent.json (Harness setup)</a:t>
            </a:r>
            <a:br/>
            <a:r>
              <a:t>  - prompt.txt (Instructions)</a:t>
            </a:r>
            <a:br/>
            <a:br/>
            <a:r>
              <a:t>$ agentcore deploy --harness</a:t>
            </a:r>
            <a:br/>
            <a:r>
              <a:t>Deploying my-agent to AWS Harness...</a:t>
            </a:r>
            <a:br/>
            <a:r>
              <a:t>🚀 Harness active! Endpoint:</a:t>
            </a:r>
            <a:br/>
            <a:r>
              <a:t>https://agentcore.us-east-1.amazonaws.com/harness/arn:...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AGENTCORE MODULES • CORE CONNECTIONS</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Gateways &amp; Secure Identity</a:t>
            </a:r>
          </a:p>
        </p:txBody>
      </p:sp>
      <p:sp>
        <p:nvSpPr>
          <p:cNvPr id="4" name="Rounded Rectangle 3"/>
          <p:cNvSpPr/>
          <p:nvPr/>
        </p:nvSpPr>
        <p:spPr>
          <a:xfrm>
            <a:off x="685800" y="1645920"/>
            <a:ext cx="5029200" cy="4114800"/>
          </a:xfrm>
          <a:prstGeom prst="roundRect">
            <a:avLst/>
          </a:prstGeom>
          <a:solidFill>
            <a:srgbClr val="0F172A"/>
          </a:solidFill>
          <a:ln w="190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000"/>
              </a:spcAft>
              <a:defRPr sz="1800" b="1">
                <a:solidFill>
                  <a:srgbClr val="8A2BE2"/>
                </a:solidFill>
                <a:latin typeface="Arial"/>
              </a:defRPr>
            </a:pPr>
            <a:r>
              <a:t>🔌 Gateways</a:t>
            </a:r>
          </a:p>
          <a:p>
            <a:pPr>
              <a:defRPr sz="1300">
                <a:solidFill>
                  <a:srgbClr val="94A3B8"/>
                </a:solidFill>
                <a:latin typeface="Arial"/>
              </a:defRPr>
            </a:pPr>
            <a:r>
              <a:t>Gateways use open source protocols, specifically the Model Context Protocol (MCP), to call external tools through OpenAPI schemas, REST APIs, or pre-configured integrations.</a:t>
            </a:r>
            <a:br/>
            <a:br/>
            <a:r>
              <a:t>• Eliminates the need to write custom middleware code or manage dedicated API routing infrastructure.</a:t>
            </a:r>
            <a:br/>
            <a:br/>
            <a:r>
              <a:t>• Integrates with security profiles to safely manage credentials and connection endpoints.</a:t>
            </a:r>
          </a:p>
        </p:txBody>
      </p:sp>
      <p:sp>
        <p:nvSpPr>
          <p:cNvPr id="5" name="Rounded Rectangle 4"/>
          <p:cNvSpPr/>
          <p:nvPr/>
        </p:nvSpPr>
        <p:spPr>
          <a:xfrm>
            <a:off x="6172200" y="1645920"/>
            <a:ext cx="5333695" cy="4114800"/>
          </a:xfrm>
          <a:prstGeom prst="roundRect">
            <a:avLst/>
          </a:prstGeom>
          <a:solidFill>
            <a:srgbClr val="0F172A"/>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000"/>
              </a:spcAft>
              <a:defRPr sz="1800" b="1">
                <a:solidFill>
                  <a:srgbClr val="00F2FE"/>
                </a:solidFill>
                <a:latin typeface="Arial"/>
              </a:defRPr>
            </a:pPr>
            <a:r>
              <a:t>🔑 Identity (Inbound &amp; Outbound)</a:t>
            </a:r>
          </a:p>
          <a:p>
            <a:pPr>
              <a:defRPr sz="1200">
                <a:solidFill>
                  <a:srgbClr val="94A3B8"/>
                </a:solidFill>
                <a:latin typeface="Arial"/>
              </a:defRPr>
            </a:pPr>
            <a:r>
              <a:t>Identity enables agents to securely manage resource access by integrating with standard enterprise identity providers (e.g. AWS IAM Identity Center).</a:t>
            </a:r>
            <a:br/>
            <a:br/>
            <a:r>
              <a:t>Inbound Identity:</a:t>
            </a:r>
            <a:br/>
            <a:r>
              <a:t>Verifies client caller credentials, authenticating that the user has permissions to invoke the agent session.</a:t>
            </a:r>
            <a:br/>
            <a:br/>
            <a:r>
              <a:t>Outbound Identity:</a:t>
            </a:r>
            <a:br/>
            <a:r>
              <a:t>Provides downstream resource access. Allows the agent to act on behalf of the user to access databases, databases, or third-party APIs using delegated permissions.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AGENTCORE MODULES • CONTEXT &amp; CONTROL</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Memory &amp; Policy Control</a:t>
            </a:r>
          </a:p>
        </p:txBody>
      </p:sp>
      <p:sp>
        <p:nvSpPr>
          <p:cNvPr id="4" name="Rounded Rectangle 3"/>
          <p:cNvSpPr/>
          <p:nvPr/>
        </p:nvSpPr>
        <p:spPr>
          <a:xfrm>
            <a:off x="685800" y="1645920"/>
            <a:ext cx="5029200" cy="4114800"/>
          </a:xfrm>
          <a:prstGeom prst="roundRect">
            <a:avLst/>
          </a:prstGeom>
          <a:solidFill>
            <a:srgbClr val="0F172A"/>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F1C40F"/>
                </a:solidFill>
                <a:latin typeface="Arial"/>
              </a:defRPr>
            </a:pPr>
            <a:r>
              <a:t>🧠 Memory &amp; State Management</a:t>
            </a:r>
          </a:p>
          <a:p>
            <a:pPr>
              <a:defRPr sz="1300" b="1">
                <a:solidFill>
                  <a:srgbClr val="F8FAFC"/>
                </a:solidFill>
                <a:latin typeface="Arial"/>
              </a:defRPr>
            </a:pPr>
            <a:r>
              <a:t>Short-Term Memory:</a:t>
            </a:r>
          </a:p>
          <a:p>
            <a:pPr>
              <a:spcAft>
                <a:spcPts val="1500"/>
              </a:spcAft>
              <a:defRPr sz="1100">
                <a:solidFill>
                  <a:srgbClr val="94A3B8"/>
                </a:solidFill>
                <a:latin typeface="Arial"/>
              </a:defRPr>
            </a:pPr>
            <a:r>
              <a:t>Keeps track of conversation history within the current active session (e.g. current variables, task stack, step results).</a:t>
            </a:r>
          </a:p>
          <a:p>
            <a:pPr>
              <a:defRPr sz="1300" b="1">
                <a:solidFill>
                  <a:srgbClr val="F8FAFC"/>
                </a:solidFill>
                <a:latin typeface="Arial"/>
              </a:defRPr>
            </a:pPr>
            <a:r>
              <a:t>Long-Term Memory:</a:t>
            </a:r>
          </a:p>
          <a:p>
            <a:pPr>
              <a:defRPr sz="1100">
                <a:solidFill>
                  <a:srgbClr val="94A3B8"/>
                </a:solidFill>
                <a:latin typeface="Arial"/>
              </a:defRPr>
            </a:pPr>
            <a:r>
              <a:t>Automatically extracts and archives facts, user preferences, and entity details across multiple historical sessions to provide context-aware responses.</a:t>
            </a:r>
          </a:p>
        </p:txBody>
      </p:sp>
      <p:sp>
        <p:nvSpPr>
          <p:cNvPr id="5" name="Rounded Rectangle 4"/>
          <p:cNvSpPr/>
          <p:nvPr/>
        </p:nvSpPr>
        <p:spPr>
          <a:xfrm>
            <a:off x="6172200" y="1645920"/>
            <a:ext cx="5333695" cy="4114800"/>
          </a:xfrm>
          <a:prstGeom prst="roundRect">
            <a:avLst/>
          </a:prstGeom>
          <a:solidFill>
            <a:srgbClr val="0F172A"/>
          </a:solidFill>
          <a:ln w="190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000"/>
              </a:spcAft>
              <a:defRPr sz="1800" b="1">
                <a:solidFill>
                  <a:srgbClr val="8A2BE2"/>
                </a:solidFill>
                <a:latin typeface="Arial"/>
              </a:defRPr>
            </a:pPr>
            <a:r>
              <a:t>🛡️ Policy (Cedar Auth)</a:t>
            </a:r>
          </a:p>
          <a:p>
            <a:pPr>
              <a:spcAft>
                <a:spcPts val="1000"/>
              </a:spcAft>
              <a:defRPr sz="1200">
                <a:solidFill>
                  <a:srgbClr val="94A3B8"/>
                </a:solidFill>
                <a:latin typeface="Arial"/>
              </a:defRPr>
            </a:pPr>
            <a:r>
              <a:t>Policy offers deterministic control to ensure agents operate within defined boundaries. Author fine-grained rules using Cedar (AWS's open-source policy language) to prevent compliance failure.</a:t>
            </a:r>
            <a:br/>
            <a:br/>
            <a:r>
              <a:t>Example Cedar Snippet:</a:t>
            </a:r>
          </a:p>
          <a:p>
            <a:pPr>
              <a:defRPr sz="1100">
                <a:solidFill>
                  <a:srgbClr val="00F2FE"/>
                </a:solidFill>
                <a:latin typeface="Courier New"/>
              </a:defRPr>
            </a:pPr>
            <a:r>
              <a:t>permit (</a:t>
            </a:r>
            <a:br/>
            <a:r>
              <a:t>    principal == User::"Alice",</a:t>
            </a:r>
            <a:br/>
            <a:r>
              <a:t>    action == Action::"ReadAccountBalance",</a:t>
            </a:r>
            <a:br/>
            <a:r>
              <a:t>    resource == Account::"12345"</a:t>
            </a:r>
            <a:br/>
            <a:r>
              <a:t>) when {</a:t>
            </a:r>
            <a:br/>
            <a:r>
              <a:t>    resource.region == "US"</a:t>
            </a: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AGENTCORE MODULES • DEPLOYMENT &amp; SHARING</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Registry &amp; Runtime</a:t>
            </a:r>
          </a:p>
        </p:txBody>
      </p:sp>
      <p:sp>
        <p:nvSpPr>
          <p:cNvPr id="4" name="Rounded Rectangle 3"/>
          <p:cNvSpPr/>
          <p:nvPr/>
        </p:nvSpPr>
        <p:spPr>
          <a:xfrm>
            <a:off x="685800" y="1645920"/>
            <a:ext cx="5029200" cy="4114800"/>
          </a:xfrm>
          <a:prstGeom prst="roundRect">
            <a:avLst/>
          </a:prstGeom>
          <a:solidFill>
            <a:srgbClr val="0F172A"/>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00F2FE"/>
                </a:solidFill>
                <a:latin typeface="Arial"/>
              </a:defRPr>
            </a:pPr>
            <a:r>
              <a:t>📂 Registry (Preview)</a:t>
            </a:r>
          </a:p>
          <a:p>
            <a:pPr>
              <a:defRPr sz="1200">
                <a:solidFill>
                  <a:srgbClr val="94A3B8"/>
                </a:solidFill>
                <a:latin typeface="Arial"/>
              </a:defRPr>
            </a:pPr>
            <a:r>
              <a:t>Registry offers a centralized hub to publish, version, and reuse agentic assets across teams.</a:t>
            </a:r>
            <a:br/>
            <a:br/>
            <a:r>
              <a:t>• Asset Discovery: Easily publish and find existing agents, MCP servers, custom tools, and specific skill libraries.</a:t>
            </a:r>
            <a:br/>
            <a:br/>
            <a:r>
              <a:t>• Version Locking: Version control agentic assets so production clients remain locked to stable assets while development tests newer runs.</a:t>
            </a:r>
            <a:br/>
            <a:br/>
            <a:r>
              <a:t>• Code Reusability: Encourages teams to share custom tool implementations, preventing duplicate coding.</a:t>
            </a:r>
          </a:p>
        </p:txBody>
      </p:sp>
      <p:sp>
        <p:nvSpPr>
          <p:cNvPr id="5" name="Rounded Rectangle 4"/>
          <p:cNvSpPr/>
          <p:nvPr/>
        </p:nvSpPr>
        <p:spPr>
          <a:xfrm>
            <a:off x="6172200" y="1645920"/>
            <a:ext cx="5333695" cy="4114800"/>
          </a:xfrm>
          <a:prstGeom prst="roundRect">
            <a:avLst/>
          </a:prstGeom>
          <a:solidFill>
            <a:srgbClr val="0F172A"/>
          </a:solidFill>
          <a:ln w="190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8A2BE2"/>
                </a:solidFill>
                <a:latin typeface="Arial"/>
              </a:defRPr>
            </a:pPr>
            <a:r>
              <a:t>🚀 Runtime for Agents and Tools</a:t>
            </a:r>
          </a:p>
          <a:p>
            <a:pPr>
              <a:defRPr sz="1200">
                <a:solidFill>
                  <a:srgbClr val="94A3B8"/>
                </a:solidFill>
                <a:latin typeface="Arial"/>
              </a:defRPr>
            </a:pPr>
            <a:r>
              <a:t>Runtime is the secure, serverless engine that hosts and executes agent and tool code.</a:t>
            </a:r>
            <a:br/>
            <a:br/>
            <a:r>
              <a:t>• Fast Cold Starts: Tailored container configurations boot in under 50ms, maintaining response snappiness.</a:t>
            </a:r>
            <a:br/>
            <a:br/>
            <a:r>
              <a:t>• True Session Isolation: Each chat session runs inside its own sandbox boundary, guaranteeing data privacy.</a:t>
            </a:r>
            <a:br/>
            <a:br/>
            <a:r>
              <a:t>• Framework Agnostic: Deploy Python, JS, or Go codes natively. Scales up/down automatically to match query demands.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AGENTCORE MODULES • VALUE &amp; ASSESSMENT</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Payments, Observability &amp; Evaluations</a:t>
            </a:r>
          </a:p>
        </p:txBody>
      </p:sp>
      <p:sp>
        <p:nvSpPr>
          <p:cNvPr id="4" name="Rounded Rectangle 3"/>
          <p:cNvSpPr/>
          <p:nvPr/>
        </p:nvSpPr>
        <p:spPr>
          <a:xfrm>
            <a:off x="685800" y="1645920"/>
            <a:ext cx="5029200" cy="4114800"/>
          </a:xfrm>
          <a:prstGeom prst="roundRect">
            <a:avLst/>
          </a:prstGeom>
          <a:solidFill>
            <a:srgbClr val="0F172A"/>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F1C40F"/>
                </a:solidFill>
                <a:latin typeface="Arial"/>
              </a:defRPr>
            </a:pPr>
            <a:r>
              <a:t>💳 Payments</a:t>
            </a:r>
          </a:p>
          <a:p>
            <a:pPr>
              <a:defRPr sz="1300">
                <a:solidFill>
                  <a:srgbClr val="94A3B8"/>
                </a:solidFill>
                <a:latin typeface="Arial"/>
              </a:defRPr>
            </a:pPr>
            <a:r>
              <a:t>Enables agents to autonomously execute micro-transaction payments for paid APIs, custom tools, or proprietary knowledge databases.</a:t>
            </a:r>
            <a:br/>
            <a:br/>
            <a:r>
              <a:t>• Secure Credentials: Wallets and API credentials are kept encrypted and managed safely under AgentCore Identity.</a:t>
            </a:r>
            <a:br/>
            <a:br/>
            <a:r>
              <a:t>• Micro-budgeting: Authorize agents to spend small budgets to solve complex sub-tasks, facilitating agent-to-agent economics.</a:t>
            </a:r>
          </a:p>
        </p:txBody>
      </p:sp>
      <p:sp>
        <p:nvSpPr>
          <p:cNvPr id="5" name="Rounded Rectangle 4"/>
          <p:cNvSpPr/>
          <p:nvPr/>
        </p:nvSpPr>
        <p:spPr>
          <a:xfrm>
            <a:off x="6172200" y="1645920"/>
            <a:ext cx="5333695" cy="4114800"/>
          </a:xfrm>
          <a:prstGeom prst="roundRect">
            <a:avLst/>
          </a:prstGeom>
          <a:solidFill>
            <a:srgbClr val="0F172A"/>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00F2FE"/>
                </a:solidFill>
                <a:latin typeface="Arial"/>
              </a:defRPr>
            </a:pPr>
            <a:r>
              <a:t>📊 Observability &amp; Evaluations</a:t>
            </a:r>
          </a:p>
          <a:p>
            <a:pPr>
              <a:defRPr sz="1200">
                <a:solidFill>
                  <a:srgbClr val="94A3B8"/>
                </a:solidFill>
                <a:latin typeface="Arial"/>
              </a:defRPr>
            </a:pPr>
            <a:r>
              <a:t>Ensures engineering teams can trace, debug, and validate production agent behavior over time.</a:t>
            </a:r>
            <a:br/>
            <a:br/>
            <a:r>
              <a:t>Observability:</a:t>
            </a:r>
            <a:br/>
            <a:r>
              <a:t>Generates thorough trace logs showing the agent's exact reasoning paths, tool invocation details, arguments, and return variables.</a:t>
            </a:r>
            <a:br/>
            <a:br/>
            <a:r>
              <a:t>Evaluations:</a:t>
            </a:r>
            <a:br/>
            <a:r>
              <a:t>Configure automated batch test suits or online evaluators to audit prompt adjustments and prevent regressions before deploying code changes.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COMPARATIVE ANALYSIS</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Amazon Bedrock Agents vs. AgentCore</a:t>
            </a:r>
          </a:p>
        </p:txBody>
      </p:sp>
      <p:graphicFrame>
        <p:nvGraphicFramePr>
          <p:cNvPr id="4" name="Table 3"/>
          <p:cNvGraphicFramePr>
            <a:graphicFrameLocks noGrp="1"/>
          </p:cNvGraphicFramePr>
          <p:nvPr/>
        </p:nvGraphicFramePr>
        <p:xfrm>
          <a:off x="685800" y="1645920"/>
          <a:ext cx="10820095" cy="4389120"/>
        </p:xfrm>
        <a:graphic>
          <a:graphicData uri="http://schemas.openxmlformats.org/drawingml/2006/table">
            <a:tbl>
              <a:tblPr firstRow="1" bandRow="1">
                <a:tableStyleId>{5C22544A-7EE6-4342-B048-85BDC9FD1C3A}</a:tableStyleId>
              </a:tblPr>
              <a:tblGrid>
                <a:gridCol w="2011680"/>
                <a:gridCol w="4389120"/>
                <a:gridCol w="4419295"/>
              </a:tblGrid>
              <a:tr h="627017">
                <a:tc>
                  <a:txBody>
                    <a:bodyPr/>
                    <a:lstStyle/>
                    <a:p>
                      <a:pPr>
                        <a:defRPr sz="1200" b="1">
                          <a:solidFill>
                            <a:srgbClr val="00F2FE"/>
                          </a:solidFill>
                          <a:latin typeface="Arial"/>
                        </a:defRPr>
                      </a:pPr>
                      <a:r>
                        <a:t>Dimension</a:t>
                      </a:r>
                    </a:p>
                  </a:txBody>
                  <a:tcPr>
                    <a:solidFill>
                      <a:srgbClr val="0F172A"/>
                    </a:solidFill>
                  </a:tcPr>
                </a:tc>
                <a:tc>
                  <a:txBody>
                    <a:bodyPr/>
                    <a:lstStyle/>
                    <a:p>
                      <a:pPr>
                        <a:defRPr sz="1200" b="1">
                          <a:solidFill>
                            <a:srgbClr val="00F2FE"/>
                          </a:solidFill>
                          <a:latin typeface="Arial"/>
                        </a:defRPr>
                      </a:pPr>
                      <a:r>
                        <a:t>Amazon Bedrock Agents (Classic)</a:t>
                      </a:r>
                    </a:p>
                  </a:txBody>
                  <a:tcPr>
                    <a:solidFill>
                      <a:srgbClr val="0F172A"/>
                    </a:solidFill>
                  </a:tcPr>
                </a:tc>
                <a:tc>
                  <a:txBody>
                    <a:bodyPr/>
                    <a:lstStyle/>
                    <a:p>
                      <a:pPr>
                        <a:defRPr sz="1200" b="1">
                          <a:solidFill>
                            <a:srgbClr val="00F2FE"/>
                          </a:solidFill>
                          <a:latin typeface="Arial"/>
                        </a:defRPr>
                      </a:pPr>
                      <a:r>
                        <a:t>Amazon Bedrock AgentCore</a:t>
                      </a:r>
                    </a:p>
                  </a:txBody>
                  <a:tcPr>
                    <a:solidFill>
                      <a:srgbClr val="0F172A"/>
                    </a:solidFill>
                  </a:tcPr>
                </a:tc>
              </a:tr>
              <a:tr h="627017">
                <a:tc>
                  <a:txBody>
                    <a:bodyPr/>
                    <a:lstStyle/>
                    <a:p>
                      <a:pPr>
                        <a:defRPr sz="1050" b="1">
                          <a:solidFill>
                            <a:srgbClr val="00F2FE"/>
                          </a:solidFill>
                          <a:latin typeface="Arial"/>
                        </a:defRPr>
                      </a:pPr>
                      <a:r>
                        <a:t>Primary Focus</a:t>
                      </a:r>
                    </a:p>
                  </a:txBody>
                  <a:tcPr>
                    <a:solidFill>
                      <a:srgbClr val="070B13"/>
                    </a:solidFill>
                  </a:tcPr>
                </a:tc>
                <a:tc>
                  <a:txBody>
                    <a:bodyPr/>
                    <a:lstStyle/>
                    <a:p>
                      <a:pPr>
                        <a:defRPr sz="1050">
                          <a:solidFill>
                            <a:srgbClr val="94A3B8"/>
                          </a:solidFill>
                          <a:latin typeface="Arial"/>
                        </a:defRPr>
                      </a:pPr>
                      <a:r>
                        <a:t>Simple, low-code AWS-native agent builder.</a:t>
                      </a:r>
                    </a:p>
                  </a:txBody>
                  <a:tcPr>
                    <a:solidFill>
                      <a:srgbClr val="070B13"/>
                    </a:solidFill>
                  </a:tcPr>
                </a:tc>
                <a:tc>
                  <a:txBody>
                    <a:bodyPr/>
                    <a:lstStyle/>
                    <a:p>
                      <a:pPr>
                        <a:defRPr sz="1050">
                          <a:solidFill>
                            <a:srgbClr val="F8FAFC"/>
                          </a:solidFill>
                          <a:latin typeface="Arial"/>
                        </a:defRPr>
                      </a:pPr>
                      <a:r>
                        <a:t>Managed platform/runtime to deploy and scale any agent code.</a:t>
                      </a:r>
                    </a:p>
                  </a:txBody>
                  <a:tcPr>
                    <a:solidFill>
                      <a:srgbClr val="070B13"/>
                    </a:solidFill>
                  </a:tcPr>
                </a:tc>
              </a:tr>
              <a:tr h="627017">
                <a:tc>
                  <a:txBody>
                    <a:bodyPr/>
                    <a:lstStyle/>
                    <a:p>
                      <a:pPr>
                        <a:defRPr sz="1050" b="1">
                          <a:solidFill>
                            <a:srgbClr val="00F2FE"/>
                          </a:solidFill>
                          <a:latin typeface="Arial"/>
                        </a:defRPr>
                      </a:pPr>
                      <a:r>
                        <a:t>Framework Support</a:t>
                      </a:r>
                    </a:p>
                  </a:txBody>
                  <a:tcPr>
                    <a:solidFill>
                      <a:srgbClr val="0C121E"/>
                    </a:solidFill>
                  </a:tcPr>
                </a:tc>
                <a:tc>
                  <a:txBody>
                    <a:bodyPr/>
                    <a:lstStyle/>
                    <a:p>
                      <a:pPr>
                        <a:defRPr sz="1050">
                          <a:solidFill>
                            <a:srgbClr val="94A3B8"/>
                          </a:solidFill>
                          <a:latin typeface="Arial"/>
                        </a:defRPr>
                      </a:pPr>
                      <a:r>
                        <a:t>Locked to Amazon's proprietary orchestration loop.</a:t>
                      </a:r>
                    </a:p>
                  </a:txBody>
                  <a:tcPr>
                    <a:solidFill>
                      <a:srgbClr val="0C121E"/>
                    </a:solidFill>
                  </a:tcPr>
                </a:tc>
                <a:tc>
                  <a:txBody>
                    <a:bodyPr/>
                    <a:lstStyle/>
                    <a:p>
                      <a:pPr>
                        <a:defRPr sz="1050">
                          <a:solidFill>
                            <a:srgbClr val="F8FAFC"/>
                          </a:solidFill>
                          <a:latin typeface="Arial"/>
                        </a:defRPr>
                      </a:pPr>
                      <a:r>
                        <a:t>Framework Agnostic (LangGraph, CrewAI, AutoGen, custom code).</a:t>
                      </a:r>
                    </a:p>
                  </a:txBody>
                  <a:tcPr>
                    <a:solidFill>
                      <a:srgbClr val="0C121E"/>
                    </a:solidFill>
                  </a:tcPr>
                </a:tc>
              </a:tr>
              <a:tr h="627017">
                <a:tc>
                  <a:txBody>
                    <a:bodyPr/>
                    <a:lstStyle/>
                    <a:p>
                      <a:pPr>
                        <a:defRPr sz="1050" b="1">
                          <a:solidFill>
                            <a:srgbClr val="00F2FE"/>
                          </a:solidFill>
                          <a:latin typeface="Arial"/>
                        </a:defRPr>
                      </a:pPr>
                      <a:r>
                        <a:t>Model Agnosticism</a:t>
                      </a:r>
                    </a:p>
                  </a:txBody>
                  <a:tcPr>
                    <a:solidFill>
                      <a:srgbClr val="070B13"/>
                    </a:solidFill>
                  </a:tcPr>
                </a:tc>
                <a:tc>
                  <a:txBody>
                    <a:bodyPr/>
                    <a:lstStyle/>
                    <a:p>
                      <a:pPr>
                        <a:defRPr sz="1050">
                          <a:solidFill>
                            <a:srgbClr val="94A3B8"/>
                          </a:solidFill>
                          <a:latin typeface="Arial"/>
                        </a:defRPr>
                      </a:pPr>
                      <a:r>
                        <a:t>Optimized for Bedrock-native models (Claude, Titan).</a:t>
                      </a:r>
                    </a:p>
                  </a:txBody>
                  <a:tcPr>
                    <a:solidFill>
                      <a:srgbClr val="070B13"/>
                    </a:solidFill>
                  </a:tcPr>
                </a:tc>
                <a:tc>
                  <a:txBody>
                    <a:bodyPr/>
                    <a:lstStyle/>
                    <a:p>
                      <a:pPr>
                        <a:defRPr sz="1050">
                          <a:solidFill>
                            <a:srgbClr val="F8FAFC"/>
                          </a:solidFill>
                          <a:latin typeface="Arial"/>
                        </a:defRPr>
                      </a:pPr>
                      <a:r>
                        <a:t>Model Agnostic (Supports external models, custom weights).</a:t>
                      </a:r>
                    </a:p>
                  </a:txBody>
                  <a:tcPr>
                    <a:solidFill>
                      <a:srgbClr val="070B13"/>
                    </a:solidFill>
                  </a:tcPr>
                </a:tc>
              </a:tr>
              <a:tr h="627017">
                <a:tc>
                  <a:txBody>
                    <a:bodyPr/>
                    <a:lstStyle/>
                    <a:p>
                      <a:pPr>
                        <a:defRPr sz="1050" b="1">
                          <a:solidFill>
                            <a:srgbClr val="00F2FE"/>
                          </a:solidFill>
                          <a:latin typeface="Arial"/>
                        </a:defRPr>
                      </a:pPr>
                      <a:r>
                        <a:t>Extensibility</a:t>
                      </a:r>
                    </a:p>
                  </a:txBody>
                  <a:tcPr>
                    <a:solidFill>
                      <a:srgbClr val="0C121E"/>
                    </a:solidFill>
                  </a:tcPr>
                </a:tc>
                <a:tc>
                  <a:txBody>
                    <a:bodyPr/>
                    <a:lstStyle/>
                    <a:p>
                      <a:pPr>
                        <a:defRPr sz="1050">
                          <a:solidFill>
                            <a:srgbClr val="94A3B8"/>
                          </a:solidFill>
                          <a:latin typeface="Arial"/>
                        </a:defRPr>
                      </a:pPr>
                      <a:r>
                        <a:t>Requires AWS Lambda action groups.</a:t>
                      </a:r>
                    </a:p>
                  </a:txBody>
                  <a:tcPr>
                    <a:solidFill>
                      <a:srgbClr val="0C121E"/>
                    </a:solidFill>
                  </a:tcPr>
                </a:tc>
                <a:tc>
                  <a:txBody>
                    <a:bodyPr/>
                    <a:lstStyle/>
                    <a:p>
                      <a:pPr>
                        <a:defRPr sz="1050">
                          <a:solidFill>
                            <a:srgbClr val="F8FAFC"/>
                          </a:solidFill>
                          <a:latin typeface="Arial"/>
                        </a:defRPr>
                      </a:pPr>
                      <a:r>
                        <a:t>Supports Model Context Protocol (MCP) and sandboxed runtimes.</a:t>
                      </a:r>
                    </a:p>
                  </a:txBody>
                  <a:tcPr>
                    <a:solidFill>
                      <a:srgbClr val="0C121E"/>
                    </a:solidFill>
                  </a:tcPr>
                </a:tc>
              </a:tr>
              <a:tr h="627017">
                <a:tc>
                  <a:txBody>
                    <a:bodyPr/>
                    <a:lstStyle/>
                    <a:p>
                      <a:pPr>
                        <a:defRPr sz="1050" b="1">
                          <a:solidFill>
                            <a:srgbClr val="00F2FE"/>
                          </a:solidFill>
                          <a:latin typeface="Arial"/>
                        </a:defRPr>
                      </a:pPr>
                      <a:r>
                        <a:t>Session Memory</a:t>
                      </a:r>
                    </a:p>
                  </a:txBody>
                  <a:tcPr>
                    <a:solidFill>
                      <a:srgbClr val="070B13"/>
                    </a:solidFill>
                  </a:tcPr>
                </a:tc>
                <a:tc>
                  <a:txBody>
                    <a:bodyPr/>
                    <a:lstStyle/>
                    <a:p>
                      <a:pPr>
                        <a:defRPr sz="1050">
                          <a:solidFill>
                            <a:srgbClr val="94A3B8"/>
                          </a:solidFill>
                          <a:latin typeface="Arial"/>
                        </a:defRPr>
                      </a:pPr>
                      <a:r>
                        <a:t>Managed session attributes (ephemeral).</a:t>
                      </a:r>
                    </a:p>
                  </a:txBody>
                  <a:tcPr>
                    <a:solidFill>
                      <a:srgbClr val="070B13"/>
                    </a:solidFill>
                  </a:tcPr>
                </a:tc>
                <a:tc>
                  <a:txBody>
                    <a:bodyPr/>
                    <a:lstStyle/>
                    <a:p>
                      <a:pPr>
                        <a:defRPr sz="1050">
                          <a:solidFill>
                            <a:srgbClr val="F8FAFC"/>
                          </a:solidFill>
                          <a:latin typeface="Arial"/>
                        </a:defRPr>
                      </a:pPr>
                      <a:r>
                        <a:t>Automated Short &amp; Long term memory across multiple sessions.</a:t>
                      </a:r>
                    </a:p>
                  </a:txBody>
                  <a:tcPr>
                    <a:solidFill>
                      <a:srgbClr val="070B13"/>
                    </a:solidFill>
                  </a:tcPr>
                </a:tc>
              </a:tr>
              <a:tr h="627018">
                <a:tc>
                  <a:txBody>
                    <a:bodyPr/>
                    <a:lstStyle/>
                    <a:p>
                      <a:pPr>
                        <a:defRPr sz="1050" b="1">
                          <a:solidFill>
                            <a:srgbClr val="00F2FE"/>
                          </a:solidFill>
                          <a:latin typeface="Arial"/>
                        </a:defRPr>
                      </a:pPr>
                      <a:r>
                        <a:t>Security Control</a:t>
                      </a:r>
                    </a:p>
                  </a:txBody>
                  <a:tcPr>
                    <a:solidFill>
                      <a:srgbClr val="0C121E"/>
                    </a:solidFill>
                  </a:tcPr>
                </a:tc>
                <a:tc>
                  <a:txBody>
                    <a:bodyPr/>
                    <a:lstStyle/>
                    <a:p>
                      <a:pPr>
                        <a:defRPr sz="1050">
                          <a:solidFill>
                            <a:srgbClr val="94A3B8"/>
                          </a:solidFill>
                          <a:latin typeface="Arial"/>
                        </a:defRPr>
                      </a:pPr>
                      <a:r>
                        <a:t>AWS IAM roles per agent.</a:t>
                      </a:r>
                    </a:p>
                  </a:txBody>
                  <a:tcPr>
                    <a:solidFill>
                      <a:srgbClr val="0C121E"/>
                    </a:solidFill>
                  </a:tcPr>
                </a:tc>
                <a:tc>
                  <a:txBody>
                    <a:bodyPr/>
                    <a:lstStyle/>
                    <a:p>
                      <a:pPr>
                        <a:defRPr sz="1050">
                          <a:solidFill>
                            <a:srgbClr val="F8FAFC"/>
                          </a:solidFill>
                          <a:latin typeface="Arial"/>
                        </a:defRPr>
                      </a:pPr>
                      <a:r>
                        <a:t>Granular Cedar Policy authorization + Inbound/Outbound identity.</a:t>
                      </a:r>
                    </a:p>
                  </a:txBody>
                  <a:tcPr>
                    <a:solidFill>
                      <a:srgbClr val="0C121E"/>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B13"/>
        </a:solidFill>
        <a:effectLst/>
      </p:bgPr>
    </p:bg>
    <p:spTree>
      <p:nvGrpSpPr>
        <p:cNvPr id="1" name=""/>
        <p:cNvGrpSpPr/>
        <p:nvPr/>
      </p:nvGrpSpPr>
      <p:grpSpPr/>
      <p:sp>
        <p:nvSpPr>
          <p:cNvPr id="2" name="TextBox 1"/>
          <p:cNvSpPr txBox="1"/>
          <p:nvPr/>
        </p:nvSpPr>
        <p:spPr>
          <a:xfrm>
            <a:off x="685800" y="365760"/>
            <a:ext cx="10820095" cy="274320"/>
          </a:xfrm>
          <a:prstGeom prst="rect">
            <a:avLst/>
          </a:prstGeom>
          <a:noFill/>
        </p:spPr>
        <p:txBody>
          <a:bodyPr wrap="square" lIns="0" rIns="0" tIns="0" bIns="0">
            <a:spAutoFit/>
          </a:bodyPr>
          <a:lstStyle/>
          <a:p>
            <a:pPr>
              <a:defRPr sz="1000" b="1">
                <a:solidFill>
                  <a:srgbClr val="00F2FE"/>
                </a:solidFill>
                <a:latin typeface="Arial"/>
              </a:defRPr>
            </a:pPr>
            <a:r>
              <a:t>CLASS DISCUSSION &amp; PRACTICE</a:t>
            </a:r>
          </a:p>
        </p:txBody>
      </p:sp>
      <p:sp>
        <p:nvSpPr>
          <p:cNvPr id="3" name="TextBox 2"/>
          <p:cNvSpPr txBox="1"/>
          <p:nvPr/>
        </p:nvSpPr>
        <p:spPr>
          <a:xfrm>
            <a:off x="685800" y="640080"/>
            <a:ext cx="10820095" cy="640080"/>
          </a:xfrm>
          <a:prstGeom prst="rect">
            <a:avLst/>
          </a:prstGeom>
          <a:noFill/>
        </p:spPr>
        <p:txBody>
          <a:bodyPr wrap="square" lIns="0" rIns="0" tIns="0" bIns="0">
            <a:spAutoFit/>
          </a:bodyPr>
          <a:lstStyle/>
          <a:p>
            <a:pPr>
              <a:defRPr sz="2600" b="1">
                <a:solidFill>
                  <a:srgbClr val="F8FAFC"/>
                </a:solidFill>
                <a:latin typeface="Arial"/>
              </a:defRPr>
            </a:pPr>
            <a:r>
              <a:t>Review &amp; Discussion Points</a:t>
            </a:r>
          </a:p>
        </p:txBody>
      </p:sp>
      <p:sp>
        <p:nvSpPr>
          <p:cNvPr id="4" name="TextBox 3"/>
          <p:cNvSpPr txBox="1"/>
          <p:nvPr/>
        </p:nvSpPr>
        <p:spPr>
          <a:xfrm>
            <a:off x="685800" y="1645920"/>
            <a:ext cx="5029200" cy="4114800"/>
          </a:xfrm>
          <a:prstGeom prst="rect">
            <a:avLst/>
          </a:prstGeom>
          <a:noFill/>
        </p:spPr>
        <p:txBody>
          <a:bodyPr wrap="square">
            <a:spAutoFit/>
          </a:bodyPr>
          <a:lstStyle/>
          <a:p>
            <a:pPr>
              <a:spcAft>
                <a:spcPts val="1500"/>
              </a:spcAft>
              <a:defRPr sz="1600" b="1">
                <a:solidFill>
                  <a:srgbClr val="F1C40F"/>
                </a:solidFill>
                <a:latin typeface="Arial"/>
              </a:defRPr>
            </a:pPr>
            <a:r>
              <a:t>Key Lecture Discussion Topics:</a:t>
            </a:r>
          </a:p>
          <a:p>
            <a:pPr>
              <a:spcBef>
                <a:spcPts val="1000"/>
              </a:spcBef>
              <a:defRPr sz="1200" b="1">
                <a:solidFill>
                  <a:srgbClr val="F8FAFC"/>
                </a:solidFill>
                <a:latin typeface="Arial"/>
              </a:defRPr>
            </a:pPr>
            <a:r>
              <a:t>1. Multi-Agent Collaboration</a:t>
            </a:r>
          </a:p>
          <a:p>
            <a:pPr>
              <a:defRPr sz="1050">
                <a:solidFill>
                  <a:srgbClr val="94A3B8"/>
                </a:solidFill>
                <a:latin typeface="Arial"/>
              </a:defRPr>
            </a:pPr>
            <a:r>
              <a:t>How does the AgentCore Registry facilitate teams building specialized agents that collaborate using open protocols like MCP?</a:t>
            </a:r>
          </a:p>
          <a:p>
            <a:pPr>
              <a:spcBef>
                <a:spcPts val="1000"/>
              </a:spcBef>
              <a:defRPr sz="1200" b="1">
                <a:solidFill>
                  <a:srgbClr val="F8FAFC"/>
                </a:solidFill>
                <a:latin typeface="Arial"/>
              </a:defRPr>
            </a:pPr>
            <a:r>
              <a:t>2. Outbound Identity delegation</a:t>
            </a:r>
          </a:p>
          <a:p>
            <a:pPr>
              <a:defRPr sz="1050">
                <a:solidFill>
                  <a:srgbClr val="94A3B8"/>
                </a:solidFill>
                <a:latin typeface="Arial"/>
              </a:defRPr>
            </a:pPr>
            <a:r>
              <a:t>Under what scenarios is Outbound Identity essential? (e.g. accessing a customer's personal corporate calendar or order database).</a:t>
            </a:r>
          </a:p>
          <a:p>
            <a:pPr>
              <a:spcBef>
                <a:spcPts val="1000"/>
              </a:spcBef>
              <a:defRPr sz="1200" b="1">
                <a:solidFill>
                  <a:srgbClr val="F8FAFC"/>
                </a:solidFill>
                <a:latin typeface="Arial"/>
              </a:defRPr>
            </a:pPr>
            <a:r>
              <a:t>3. Compliance &amp; Cedar Policies</a:t>
            </a:r>
          </a:p>
          <a:p>
            <a:pPr>
              <a:defRPr sz="1050">
                <a:solidFill>
                  <a:srgbClr val="94A3B8"/>
                </a:solidFill>
                <a:latin typeface="Arial"/>
              </a:defRPr>
            </a:pPr>
            <a:r>
              <a:t>Why should developers rely on deterministic policy files (Cedar) instead of writing safety guidelines in natural language system prompts?</a:t>
            </a:r>
          </a:p>
        </p:txBody>
      </p:sp>
      <p:sp>
        <p:nvSpPr>
          <p:cNvPr id="5" name="Rounded Rectangle 4"/>
          <p:cNvSpPr/>
          <p:nvPr/>
        </p:nvSpPr>
        <p:spPr>
          <a:xfrm>
            <a:off x="6172200" y="1645920"/>
            <a:ext cx="5333695" cy="4114800"/>
          </a:xfrm>
          <a:prstGeom prst="roundRect">
            <a:avLst/>
          </a:prstGeom>
          <a:solidFill>
            <a:srgbClr val="0F172A"/>
          </a:solidFill>
          <a:ln w="19050">
            <a:solidFill>
              <a:srgbClr val="8A2BE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1500"/>
              </a:spcAft>
              <a:defRPr sz="1800" b="1">
                <a:solidFill>
                  <a:srgbClr val="8A2BE2"/>
                </a:solidFill>
                <a:latin typeface="Arial"/>
              </a:defRPr>
            </a:pPr>
            <a:r>
              <a:t>Lecture Summary</a:t>
            </a:r>
          </a:p>
          <a:p>
            <a:pPr>
              <a:spcBef>
                <a:spcPts val="800"/>
              </a:spcBef>
              <a:defRPr sz="1100">
                <a:solidFill>
                  <a:srgbClr val="94A3B8"/>
                </a:solidFill>
                <a:latin typeface="Arial"/>
              </a:defRPr>
            </a:pPr>
            <a:r>
              <a:t>• AWS Bedrock: Unified API for foundation models (Claude, Llama, Titan) + customizations (fine-tuning, knowledge bases, guardrails).</a:t>
            </a:r>
          </a:p>
          <a:p>
            <a:pPr>
              <a:spcBef>
                <a:spcPts val="800"/>
              </a:spcBef>
              <a:defRPr sz="1100">
                <a:solidFill>
                  <a:srgbClr val="94A3B8"/>
                </a:solidFill>
                <a:latin typeface="Arial"/>
              </a:defRPr>
            </a:pPr>
            <a:r>
              <a:t>• AgentCore Harness/CLI/SDK: Connection frameworks allowing developers to build locally first.</a:t>
            </a:r>
          </a:p>
          <a:p>
            <a:pPr>
              <a:spcBef>
                <a:spcPts val="800"/>
              </a:spcBef>
              <a:defRPr sz="1100">
                <a:solidFill>
                  <a:srgbClr val="94A3B8"/>
                </a:solidFill>
                <a:latin typeface="Arial"/>
              </a:defRPr>
            </a:pPr>
            <a:r>
              <a:t>• AgentCore Modules: 10 middleware modules (Memory, Identity, Policy, Gateways, registry, payments) that handle enterprise operations.</a:t>
            </a:r>
          </a:p>
          <a:p>
            <a:pPr>
              <a:spcBef>
                <a:spcPts val="800"/>
              </a:spcBef>
              <a:defRPr sz="1100">
                <a:solidFill>
                  <a:srgbClr val="94A3B8"/>
                </a:solidFill>
                <a:latin typeface="Arial"/>
              </a:defRPr>
            </a:pPr>
            <a:r>
              <a:t>• AgentCore Runtime: Serverless, purpose-built execution environment for isolated scaling.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